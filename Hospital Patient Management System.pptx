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0575" y="2028825"/>
            <a:ext cx="2990850" cy="3238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2581275"/>
            <a:ext cx="10001250" cy="1314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175"/>
              </a:lnSpc>
            </a:pPr>
            <a:r>
              <a:rPr b="1" sz="4500" i="0" u="none">
                <a:solidFill>
                  <a:srgbClr val="0F172A"/>
                </a:solidFill>
                <a:latin typeface="Plus Jakarta Sans"/>
              </a:rPr>
              <a:t>Hospital Patient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4086225"/>
            <a:ext cx="8572500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A Comprehensive Software Architecture for Streamlining Healthcare Operations, OPD/IPD Workflows, and Electronic Health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66664"/>
            <a:ext cx="5334000" cy="28390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66664"/>
            <a:ext cx="5334000" cy="28390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19089"/>
            <a:ext cx="48606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Traditional Healthcare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119139"/>
            <a:ext cx="46291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Manual hospital workflows suffer from high registration turnaround times, untracked paper medical files, and inefficient bed allocations.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986212"/>
            <a:ext cx="46291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Human error in billing and delayed communication between diagnostic labs and doctors frequently compromise patient care outcomes.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719089"/>
            <a:ext cx="48606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HPMS System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119139"/>
            <a:ext cx="46291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Centralize patient demographics, clinical history, and billing records under a single standardized Unique Health ID (UHID).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3986212"/>
            <a:ext cx="46291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Automate appointment queues, streamline IPD bed management, and provide real-time operational insights for administrators.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Executive Summary &amp; Need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6376"/>
            <a:ext cx="3492549" cy="31596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06376"/>
            <a:ext cx="3492549" cy="315962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06376"/>
            <a:ext cx="3492549" cy="31596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520701"/>
            <a:ext cx="571500" cy="571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282701"/>
            <a:ext cx="225028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OPD &amp;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82751"/>
            <a:ext cx="2863899" cy="12546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Generates digital tokens, captures demographics, links national health IDs, and streamlines doctor schedules with real-time token displays.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4124" y="2520701"/>
            <a:ext cx="571500" cy="5715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64124" y="3282701"/>
            <a:ext cx="21402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EHR &amp; Diagnostics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4124" y="3682751"/>
            <a:ext cx="2863899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Centralized longitudinal medical records, e-prescriptions with drug interaction checks, and automated lab test sync.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2424" y="2520701"/>
            <a:ext cx="571500" cy="571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42424" y="3282701"/>
            <a:ext cx="202025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IPD &amp; Billing 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3682751"/>
            <a:ext cx="2863899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Live bed matrix tracking across wards, nursing vitals logging, discharge automation, and claim clearinghouse integration.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462" y="2682626"/>
            <a:ext cx="2762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0337" y="2682626"/>
            <a:ext cx="21907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1011" y="2682626"/>
            <a:ext cx="314325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System Architecture Pillars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71687"/>
            <a:ext cx="5334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073354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1050" y="2071687"/>
            <a:ext cx="5124450" cy="501848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Single UHID Assignment: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Replaces duplicate paper registers with a quick lookup system based on mobile number or biometric 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89502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2687835"/>
            <a:ext cx="5124450" cy="501848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Online Appointment Portal: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Patients can pre-book consultations via web portal or mobile app to prevent overcrowding.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305651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50" y="3303984"/>
            <a:ext cx="5124450" cy="501848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Queue Management: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Automated token display screens in waiting lounges reduce perceived wait times and improve 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921799"/>
            <a:ext cx="952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920132"/>
            <a:ext cx="5124450" cy="501848"/>
          </a:xfrm>
          <a:prstGeom prst="rect">
            <a:avLst/>
          </a:prstGeom>
          <a:noFill/>
        </p:spPr>
        <p:txBody>
          <a:bodyPr wrap="square" lIns="9525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Automated Notifications: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Instant SMS/WhatsApp confirmation for appointment slots and prescription links.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71687"/>
            <a:ext cx="5334000" cy="3429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Patient OPD &amp; Registration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92126"/>
            <a:ext cx="5334000" cy="258812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92126"/>
            <a:ext cx="5334000" cy="25881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44551"/>
            <a:ext cx="48606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Admission &amp; Live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44601"/>
            <a:ext cx="46291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Displays real-time occupancy across General Wards, Semi-Private Rooms, and Intensive Care Units (ICU).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60750"/>
            <a:ext cx="46291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Color-coded matrix indicates clean, occupied, reserved, and under-maintenance beds for instant ward boy assignment.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2844551"/>
            <a:ext cx="486060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Nursing &amp; Transfer Workflows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244601"/>
            <a:ext cx="46291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Digital shift handoffs ensure continuous monitoring of critical vitals and daily medication administration records (MAR).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4111674"/>
            <a:ext cx="46291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Auto-triggers room, nursing, and equipment charges directly into the final billing ledger upon room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IPD &amp; Real-Time Bed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5550693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Electronic Health Records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90625"/>
            <a:ext cx="5550693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Clinical Core &amp;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90675"/>
            <a:ext cx="5286375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Provides doctors with instant access to lifelong patient histories, past surgical records, active allergies, and comparative diagnostic trends.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457747"/>
            <a:ext cx="5286375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Features structured ICD-10 diagnostic coding, e-prescriptions, and seamless lab integration for safer clinical decision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092969"/>
          <a:ext cx="11029948" cy="3386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876573"/>
                <a:gridCol w="4499967"/>
                <a:gridCol w="2154287"/>
                <a:gridCol w="2499121"/>
              </a:tblGrid>
              <a:tr h="564381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Module Name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Core Capabilities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Primary Users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Key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643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OPD &amp; Registration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Token generation, UHID lookup, appointment booking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Receptionists, Patients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Cuts check-in time by 80%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43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Clinical EMR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E-prescriptions, lab order sync, ICD coding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Doctors, Nurses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Reduces medical errors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43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IPD &amp; Bed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Live bed occupancy tracking, ward assignment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Nursing Staff, Admin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Maximizes bed utilization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43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Pharmacy &amp; Store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Batch tracking, re-order alerts, auto-billing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Pharmacists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Prevents stockouts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64381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Billing &amp; Insurance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Tariff plans, claim generation, audit trail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Finance Desk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475569"/>
                          </a:solidFill>
                          <a:latin typeface="Inter"/>
                        </a:rPr>
                        <a:t>Accelerates revenue cycle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643485"/>
            <a:ext cx="1876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57598" y="2643485"/>
            <a:ext cx="4499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57566" y="2643485"/>
            <a:ext cx="2154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11853" y="2643485"/>
            <a:ext cx="2499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208734"/>
            <a:ext cx="1876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457598" y="3208734"/>
            <a:ext cx="4499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57566" y="3208734"/>
            <a:ext cx="2154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1853" y="3208734"/>
            <a:ext cx="2499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1025" y="3773983"/>
            <a:ext cx="1876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7598" y="3773983"/>
            <a:ext cx="4499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57566" y="3773983"/>
            <a:ext cx="2154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11853" y="3773983"/>
            <a:ext cx="2499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1025" y="4339232"/>
            <a:ext cx="1876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57598" y="4339232"/>
            <a:ext cx="4499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957566" y="4339232"/>
            <a:ext cx="2154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11853" y="4339232"/>
            <a:ext cx="2499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1025" y="4904482"/>
            <a:ext cx="187657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57598" y="4904482"/>
            <a:ext cx="449996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57566" y="4904482"/>
            <a:ext cx="215428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11853" y="4904482"/>
            <a:ext cx="249912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Module Breakdown &amp; Capabilities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9862"/>
            <a:ext cx="5334000" cy="2152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3090862"/>
            <a:ext cx="4572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b="0" sz="8250" i="0" u="none">
                <a:solidFill>
                  <a:srgbClr val="FFFFFF"/>
                </a:solidFill>
                <a:latin typeface="Plus Jakarta Sans ExtraBold"/>
              </a:rPr>
              <a:t>65%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4233862"/>
            <a:ext cx="457200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E0F2FE"/>
                </a:solidFill>
                <a:latin typeface="Inter SemiBold"/>
              </a:rPr>
              <a:t>Wait Time Reduction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719089"/>
            <a:ext cx="56007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0F766E"/>
                </a:solidFill>
                <a:latin typeface="Plus Jakarta Sans SemiBold"/>
              </a:rPr>
              <a:t>Quantifiable Operational Gains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3119139"/>
            <a:ext cx="533400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By digitizing front-desk patient registration, centralizing lab diagnostic reports, and enabling electronic doctor consultations, the system drastically cuts down total turn-around time per patient visit.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986212"/>
            <a:ext cx="533400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Eliminates revenue leakage in billing by automatically cross-referencing diagnostic orders and ward transfers with payment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Impact &amp; Efficiency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7787" y="4651325"/>
            <a:ext cx="9496425" cy="498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Task Time: Manual vs Automated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0300" y="5213300"/>
            <a:ext cx="7391400" cy="4985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System Module Load Share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67137"/>
            <a:ext cx="110490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52887"/>
            <a:ext cx="2541240" cy="1321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419" y="2419350"/>
            <a:ext cx="2541240" cy="11001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3339" y="4052887"/>
            <a:ext cx="2541240" cy="11001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9259" y="2419350"/>
            <a:ext cx="2541240" cy="11001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7992" y="4233862"/>
            <a:ext cx="228825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F766E"/>
                </a:solidFill>
                <a:latin typeface="Plus Jakarta Sans SemiBold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2475" y="4529137"/>
            <a:ext cx="2179290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Requirements gathering, DB design &amp; OPD module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3912" y="2600325"/>
            <a:ext cx="228825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F766E"/>
                </a:solidFill>
                <a:latin typeface="Plus Jakarta Sans SemiBold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8394" y="2895600"/>
            <a:ext cx="217929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Clinical EMR, doctor portal &amp; pharmacy inventory sync.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9832" y="4233862"/>
            <a:ext cx="228825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F766E"/>
                </a:solidFill>
                <a:latin typeface="Plus Jakarta Sans SemiBold"/>
              </a:rPr>
              <a:t>Phase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4314" y="4529137"/>
            <a:ext cx="217929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IPD bed matrix, billing engine &amp; lab LIS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5752" y="2600325"/>
            <a:ext cx="2288254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0F766E"/>
                </a:solidFill>
                <a:latin typeface="Plus Jakarta Sans SemiBold"/>
              </a:rPr>
              <a:t>Phase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60234" y="2895600"/>
            <a:ext cx="2179290" cy="442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Staff training, security compliance audit &amp; Go-Live.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System Implementation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3265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9184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5104" y="3681412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225" y="2392560"/>
            <a:ext cx="554355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476250"/>
            <a:ext cx="11601450" cy="866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0F172A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495425"/>
            <a:ext cx="11049000" cy="354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90"/>
              </a:lnSpc>
            </a:pPr>
            <a:r>
              <a:rPr b="0" sz="1800" i="0" u="none">
                <a:solidFill>
                  <a:srgbClr val="0F766E"/>
                </a:solidFill>
                <a:latin typeface="Inter SemiBold"/>
              </a:rPr>
              <a:t>Hospital Patient Management System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2923728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36857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368572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66603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66875" y="3066901"/>
            <a:ext cx="9953625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https://curogram.com/hubfs/The%2010%20Best%20Patient%20Check%20In%20System%20%26%20Software%20Solutions%20of%202025-featured.png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3306365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curogram.com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33676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66875" y="3838128"/>
            <a:ext cx="9953625" cy="3836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https://img.magnific.com/premium-photo/medicine-doctor-use-tablet-review-patient-medical-records-virtual-screens-digital-healthcare-review-medical-reports-carefully-diagnose-illnesses-effective-treatment-plan_568137-1482.jpg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4269432"/>
            <a:ext cx="9953625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www.magnific.com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